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</p:sldIdLst>
  <p:sldSz cx="7556500" cy="10693400"/>
  <p:notesSz cx="6858000" cy="9144000"/>
  <p:embeddedFontLst>
    <p:embeddedFont>
      <p:font typeface="Open Sans" charset="1" panose="020B0606030504020204"/>
      <p:regular r:id="rId8"/>
    </p:embeddedFont>
    <p:embeddedFont>
      <p:font typeface="Open Sans Bold" charset="1" panose="020B0806030504020204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fonts/font8.fntdata" Type="http://schemas.openxmlformats.org/officeDocument/2006/relationships/font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2727897"/>
          </a:xfrm>
          <a:custGeom>
            <a:avLst/>
            <a:gdLst/>
            <a:ahLst/>
            <a:cxnLst/>
            <a:rect r="r" b="b" t="t" l="l"/>
            <a:pathLst>
              <a:path h="2727897" w="7560000">
                <a:moveTo>
                  <a:pt x="0" y="0"/>
                </a:moveTo>
                <a:lnTo>
                  <a:pt x="7560000" y="0"/>
                </a:lnTo>
                <a:lnTo>
                  <a:pt x="7560000" y="2727897"/>
                </a:lnTo>
                <a:lnTo>
                  <a:pt x="0" y="27278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8917" r="0" b="-22468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664986"/>
            <a:ext cx="7560000" cy="2681014"/>
          </a:xfrm>
          <a:custGeom>
            <a:avLst/>
            <a:gdLst/>
            <a:ahLst/>
            <a:cxnLst/>
            <a:rect r="r" b="b" t="t" l="l"/>
            <a:pathLst>
              <a:path h="2681014" w="7560000">
                <a:moveTo>
                  <a:pt x="0" y="0"/>
                </a:moveTo>
                <a:lnTo>
                  <a:pt x="7560000" y="0"/>
                </a:lnTo>
                <a:lnTo>
                  <a:pt x="7560000" y="2681014"/>
                </a:lnTo>
                <a:lnTo>
                  <a:pt x="0" y="26810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0096" r="0" b="-2746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275343"/>
            <a:ext cx="7560000" cy="2327617"/>
          </a:xfrm>
          <a:custGeom>
            <a:avLst/>
            <a:gdLst/>
            <a:ahLst/>
            <a:cxnLst/>
            <a:rect r="r" b="b" t="t" l="l"/>
            <a:pathLst>
              <a:path h="2327617" w="7560000">
                <a:moveTo>
                  <a:pt x="0" y="0"/>
                </a:moveTo>
                <a:lnTo>
                  <a:pt x="7560000" y="0"/>
                </a:lnTo>
                <a:lnTo>
                  <a:pt x="7560000" y="2327617"/>
                </a:lnTo>
                <a:lnTo>
                  <a:pt x="0" y="23276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34666" r="0" b="-4681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7579693"/>
            <a:ext cx="7560000" cy="3112307"/>
          </a:xfrm>
          <a:custGeom>
            <a:avLst/>
            <a:gdLst/>
            <a:ahLst/>
            <a:cxnLst/>
            <a:rect r="r" b="b" t="t" l="l"/>
            <a:pathLst>
              <a:path h="3112307" w="7560000">
                <a:moveTo>
                  <a:pt x="0" y="0"/>
                </a:moveTo>
                <a:lnTo>
                  <a:pt x="7560000" y="0"/>
                </a:lnTo>
                <a:lnTo>
                  <a:pt x="7560000" y="3112307"/>
                </a:lnTo>
                <a:lnTo>
                  <a:pt x="0" y="31123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03027" r="0" b="-39878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15306" y="174367"/>
            <a:ext cx="4684852" cy="22781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7">
                <a:solidFill>
                  <a:srgbClr val="83E1FC"/>
                </a:solidFill>
                <a:latin typeface="Open Sans"/>
                <a:ea typeface="Open Sans"/>
                <a:cs typeface="Open Sans"/>
                <a:sym typeface="Open Sans"/>
              </a:rPr>
              <a:t>Інженерія програмного забезпечення — шлях до сучасної професії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7">
                <a:solidFill>
                  <a:srgbClr val="83E1FC"/>
                </a:solidFill>
                <a:latin typeface="Open Sans"/>
                <a:ea typeface="Open Sans"/>
                <a:cs typeface="Open Sans"/>
                <a:sym typeface="Open Sans"/>
              </a:rPr>
              <a:t>Світ швидко змінюється, і сьогодні саме ІТ-сфера формує майбутнє.</a:t>
            </a:r>
          </a:p>
          <a:p>
            <a:pPr algn="ctr">
              <a:lnSpc>
                <a:spcPts val="2305"/>
              </a:lnSpc>
              <a:spcBef>
                <a:spcPct val="0"/>
              </a:spcBef>
            </a:pPr>
            <a:r>
              <a:rPr lang="en-US" sz="1647">
                <a:solidFill>
                  <a:srgbClr val="83E1FC"/>
                </a:solidFill>
                <a:latin typeface="Open Sans"/>
                <a:ea typeface="Open Sans"/>
                <a:cs typeface="Open Sans"/>
                <a:sym typeface="Open Sans"/>
              </a:rPr>
              <a:t> Інженерія програмного забезпечення — це напрям для тих, хто хоче отримати актуальну, престижну та стабільну професію, незалежно від країни проживання.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780000" y="2775522"/>
            <a:ext cx="2768738" cy="2280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7"/>
              </a:lnSpc>
              <a:spcBef>
                <a:spcPct val="0"/>
              </a:spcBef>
            </a:pPr>
            <a:r>
              <a:rPr lang="en-US" sz="2212">
                <a:solidFill>
                  <a:srgbClr val="C06D25"/>
                </a:solidFill>
                <a:latin typeface="Open Sans"/>
                <a:ea typeface="Open Sans"/>
                <a:cs typeface="Open Sans"/>
                <a:sym typeface="Open Sans"/>
              </a:rPr>
              <a:t>SMM-спеціаліст — створює контент, аналізує аудиторію та просуває бренди в соціальних мережах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27477" y="5437268"/>
            <a:ext cx="3054087" cy="199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3"/>
              </a:lnSpc>
              <a:spcBef>
                <a:spcPct val="0"/>
              </a:spcBef>
            </a:pPr>
            <a:r>
              <a:rPr lang="en-US" sz="1902">
                <a:solidFill>
                  <a:srgbClr val="CECAC7"/>
                </a:solidFill>
                <a:latin typeface="Open Sans"/>
                <a:ea typeface="Open Sans"/>
                <a:cs typeface="Open Sans"/>
                <a:sym typeface="Open Sans"/>
              </a:rPr>
              <a:t>QA / тестувальник програмного забезпечення — перевіряє програми на помилки та забезпечує їх якість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64369" y="7640726"/>
            <a:ext cx="2356615" cy="2965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13"/>
              </a:lnSpc>
              <a:spcBef>
                <a:spcPct val="0"/>
              </a:spcBef>
            </a:pPr>
            <a:r>
              <a:rPr lang="en-US" sz="2152">
                <a:solidFill>
                  <a:srgbClr val="CDAABC"/>
                </a:solidFill>
                <a:latin typeface="Open Sans"/>
                <a:ea typeface="Open Sans"/>
                <a:cs typeface="Open Sans"/>
                <a:sym typeface="Open Sans"/>
              </a:rPr>
              <a:t>Backend-розробник — створює серверну частину програм, працює з базами даних та логікою систем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2904780"/>
          </a:xfrm>
          <a:custGeom>
            <a:avLst/>
            <a:gdLst/>
            <a:ahLst/>
            <a:cxnLst/>
            <a:rect r="r" b="b" t="t" l="l"/>
            <a:pathLst>
              <a:path h="2904780" w="7560000">
                <a:moveTo>
                  <a:pt x="0" y="0"/>
                </a:moveTo>
                <a:lnTo>
                  <a:pt x="7560000" y="0"/>
                </a:lnTo>
                <a:lnTo>
                  <a:pt x="7560000" y="2904780"/>
                </a:lnTo>
                <a:lnTo>
                  <a:pt x="0" y="29047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122" r="0" b="-40276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2904780"/>
            <a:ext cx="7560000" cy="2984700"/>
          </a:xfrm>
          <a:custGeom>
            <a:avLst/>
            <a:gdLst/>
            <a:ahLst/>
            <a:cxnLst/>
            <a:rect r="r" b="b" t="t" l="l"/>
            <a:pathLst>
              <a:path h="2984700" w="7560000">
                <a:moveTo>
                  <a:pt x="0" y="0"/>
                </a:moveTo>
                <a:lnTo>
                  <a:pt x="7560000" y="0"/>
                </a:lnTo>
                <a:lnTo>
                  <a:pt x="7560000" y="2984700"/>
                </a:lnTo>
                <a:lnTo>
                  <a:pt x="0" y="2984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2000"/>
            </a:blip>
            <a:stretch>
              <a:fillRect l="0" t="-25273" r="0" b="-4348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5889480"/>
            <a:ext cx="7560000" cy="4802520"/>
          </a:xfrm>
          <a:custGeom>
            <a:avLst/>
            <a:gdLst/>
            <a:ahLst/>
            <a:cxnLst/>
            <a:rect r="r" b="b" t="t" l="l"/>
            <a:pathLst>
              <a:path h="4802520" w="7560000">
                <a:moveTo>
                  <a:pt x="0" y="0"/>
                </a:moveTo>
                <a:lnTo>
                  <a:pt x="7560000" y="0"/>
                </a:lnTo>
                <a:lnTo>
                  <a:pt x="7560000" y="4802520"/>
                </a:lnTo>
                <a:lnTo>
                  <a:pt x="0" y="48025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4879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23778" y="8224109"/>
            <a:ext cx="2603667" cy="2316920"/>
            <a:chOff x="0" y="0"/>
            <a:chExt cx="933069" cy="830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3069" cy="830333"/>
            </a:xfrm>
            <a:custGeom>
              <a:avLst/>
              <a:gdLst/>
              <a:ahLst/>
              <a:cxnLst/>
              <a:rect r="r" b="b" t="t" l="l"/>
              <a:pathLst>
                <a:path h="830333" w="933069">
                  <a:moveTo>
                    <a:pt x="933069" y="187328"/>
                  </a:moveTo>
                  <a:lnTo>
                    <a:pt x="933069" y="643004"/>
                  </a:lnTo>
                  <a:cubicBezTo>
                    <a:pt x="933069" y="692687"/>
                    <a:pt x="913333" y="740335"/>
                    <a:pt x="878202" y="775466"/>
                  </a:cubicBezTo>
                  <a:cubicBezTo>
                    <a:pt x="843071" y="810596"/>
                    <a:pt x="795423" y="830333"/>
                    <a:pt x="745741" y="830333"/>
                  </a:cubicBezTo>
                  <a:lnTo>
                    <a:pt x="187328" y="830333"/>
                  </a:lnTo>
                  <a:cubicBezTo>
                    <a:pt x="137646" y="830333"/>
                    <a:pt x="89998" y="810596"/>
                    <a:pt x="54867" y="775466"/>
                  </a:cubicBezTo>
                  <a:cubicBezTo>
                    <a:pt x="19736" y="740335"/>
                    <a:pt x="0" y="692687"/>
                    <a:pt x="0" y="643004"/>
                  </a:cubicBezTo>
                  <a:lnTo>
                    <a:pt x="0" y="187328"/>
                  </a:lnTo>
                  <a:cubicBezTo>
                    <a:pt x="0" y="137646"/>
                    <a:pt x="19736" y="89998"/>
                    <a:pt x="54867" y="54867"/>
                  </a:cubicBezTo>
                  <a:cubicBezTo>
                    <a:pt x="89998" y="19736"/>
                    <a:pt x="137646" y="0"/>
                    <a:pt x="187328" y="0"/>
                  </a:cubicBezTo>
                  <a:lnTo>
                    <a:pt x="745741" y="0"/>
                  </a:lnTo>
                  <a:cubicBezTo>
                    <a:pt x="795423" y="0"/>
                    <a:pt x="843071" y="19736"/>
                    <a:pt x="878202" y="54867"/>
                  </a:cubicBezTo>
                  <a:cubicBezTo>
                    <a:pt x="913333" y="89998"/>
                    <a:pt x="933069" y="137646"/>
                    <a:pt x="933069" y="18732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933069" cy="8589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399397" y="281258"/>
            <a:ext cx="2748358" cy="25119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08"/>
              </a:lnSpc>
              <a:spcBef>
                <a:spcPct val="0"/>
              </a:spcBef>
            </a:pPr>
            <a:r>
              <a:rPr lang="en-US" sz="2077">
                <a:solidFill>
                  <a:srgbClr val="DCDAE6"/>
                </a:solidFill>
                <a:latin typeface="Open Sans"/>
                <a:ea typeface="Open Sans"/>
                <a:cs typeface="Open Sans"/>
                <a:sym typeface="Open Sans"/>
              </a:rPr>
              <a:t>Python — це високорівнева мова програмування, яка стала стандартом у сучасному IT завдяки своїй простоті та потужності.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3778" y="3104884"/>
            <a:ext cx="3196102" cy="254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6"/>
              </a:lnSpc>
              <a:spcBef>
                <a:spcPct val="0"/>
              </a:spcBef>
            </a:pPr>
            <a:r>
              <a:rPr lang="en-US" b="true" sz="2104">
                <a:solidFill>
                  <a:srgbClr val="171F28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C# — це сучасна об'єктно-орієнтована мова програмування від Microsoft, яка поєднує в собі потужність C++ та простоту Java.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7008" y="8370966"/>
            <a:ext cx="2257208" cy="1994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6"/>
              </a:lnSpc>
              <a:spcBef>
                <a:spcPct val="0"/>
              </a:spcBef>
            </a:pPr>
            <a:r>
              <a:rPr lang="en-US" sz="1433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Програмування — це не просто написання коду. Це спосіб спілкування з технологіями, що дозволяє перетворювати абстрактні ідеї на реальні цифрові продукти.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890547" y="5956111"/>
            <a:ext cx="2603667" cy="2267998"/>
            <a:chOff x="0" y="0"/>
            <a:chExt cx="933069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3069" cy="812800"/>
            </a:xfrm>
            <a:custGeom>
              <a:avLst/>
              <a:gdLst/>
              <a:ahLst/>
              <a:cxnLst/>
              <a:rect r="r" b="b" t="t" l="l"/>
              <a:pathLst>
                <a:path h="812800" w="933069">
                  <a:moveTo>
                    <a:pt x="933069" y="187328"/>
                  </a:moveTo>
                  <a:lnTo>
                    <a:pt x="933069" y="625472"/>
                  </a:lnTo>
                  <a:cubicBezTo>
                    <a:pt x="933069" y="675154"/>
                    <a:pt x="913333" y="722802"/>
                    <a:pt x="878202" y="757933"/>
                  </a:cubicBezTo>
                  <a:cubicBezTo>
                    <a:pt x="843071" y="793064"/>
                    <a:pt x="795423" y="812800"/>
                    <a:pt x="745741" y="812800"/>
                  </a:cubicBezTo>
                  <a:lnTo>
                    <a:pt x="187328" y="812800"/>
                  </a:lnTo>
                  <a:cubicBezTo>
                    <a:pt x="137646" y="812800"/>
                    <a:pt x="89998" y="793064"/>
                    <a:pt x="54867" y="757933"/>
                  </a:cubicBezTo>
                  <a:cubicBezTo>
                    <a:pt x="19736" y="722802"/>
                    <a:pt x="0" y="675154"/>
                    <a:pt x="0" y="625472"/>
                  </a:cubicBezTo>
                  <a:lnTo>
                    <a:pt x="0" y="187328"/>
                  </a:lnTo>
                  <a:cubicBezTo>
                    <a:pt x="0" y="137646"/>
                    <a:pt x="19736" y="89998"/>
                    <a:pt x="54867" y="54867"/>
                  </a:cubicBezTo>
                  <a:cubicBezTo>
                    <a:pt x="89998" y="19736"/>
                    <a:pt x="137646" y="0"/>
                    <a:pt x="187328" y="0"/>
                  </a:cubicBezTo>
                  <a:lnTo>
                    <a:pt x="745741" y="0"/>
                  </a:lnTo>
                  <a:cubicBezTo>
                    <a:pt x="795423" y="0"/>
                    <a:pt x="843071" y="19736"/>
                    <a:pt x="878202" y="54867"/>
                  </a:cubicBezTo>
                  <a:cubicBezTo>
                    <a:pt x="913333" y="89998"/>
                    <a:pt x="933069" y="137646"/>
                    <a:pt x="933069" y="187328"/>
                  </a:cubicBezTo>
                  <a:close/>
                </a:path>
              </a:pathLst>
            </a:custGeom>
            <a:solidFill>
              <a:srgbClr val="737373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93306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083521" y="6104500"/>
            <a:ext cx="2240660" cy="1942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8"/>
              </a:lnSpc>
              <a:spcBef>
                <a:spcPct val="0"/>
              </a:spcBef>
            </a:pPr>
            <a:r>
              <a:rPr lang="en-US" sz="1599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Свобода та гнучкість: Це професія без кордонів, яка дозволяє працювати з будь-якої точки світу над глобальними проєктами.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DAG_DEMaprk</dc:identifier>
  <dcterms:modified xsi:type="dcterms:W3CDTF">2011-08-01T06:04:30Z</dcterms:modified>
  <cp:revision>1</cp:revision>
  <dc:title>Інженерія програмного забезпечення — шлях до сучасної професії Світ швидко змінюється, і сьогодні саме ІТ-сфера формує майбутнє. Інженерія програмного забезпечення — це напрям для тих, хто хоче отримати актуальну, престижну та стабільну професію,</dc:title>
</cp:coreProperties>
</file>