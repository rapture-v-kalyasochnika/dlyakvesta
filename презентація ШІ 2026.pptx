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721" autoAdjust="0"/>
  </p:normalViewPr>
  <p:slideViewPr>
    <p:cSldViewPr snapToGrid="0">
      <p:cViewPr varScale="1">
        <p:scale>
          <a:sx n="60" d="100"/>
          <a:sy n="60" d="100"/>
        </p:scale>
        <p:origin x="78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078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436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uk-UA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440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4916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430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3336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57990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759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1525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6025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3636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7018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7596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6576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9441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7806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67406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7506397-E50E-4957-BC86-069C09E22F6E}" type="datetimeFigureOut">
              <a:rPr lang="uk-UA" smtClean="0"/>
              <a:t>20.01.2026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uk-UA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3F1DFE2-EFBE-4967-A9A5-0E7DECAAA65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711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3389" y="802105"/>
            <a:ext cx="7927224" cy="3429844"/>
          </a:xfrm>
        </p:spPr>
        <p:txBody>
          <a:bodyPr/>
          <a:lstStyle/>
          <a:p>
            <a:r>
              <a:rPr lang="uk-UA" dirty="0" smtClean="0"/>
              <a:t>Досягнення штучного інтелекту на 2026 рік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37421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Е</a:t>
            </a:r>
            <a:r>
              <a:rPr lang="ru-RU" b="1" dirty="0" err="1" smtClean="0"/>
              <a:t>волюція</a:t>
            </a:r>
            <a:r>
              <a:rPr lang="ru-RU" b="1" dirty="0" smtClean="0"/>
              <a:t> </a:t>
            </a:r>
            <a:r>
              <a:rPr lang="ru-RU" b="1" dirty="0"/>
              <a:t>ШІ у 2025-2026 роках</a:t>
            </a:r>
            <a:br>
              <a:rPr lang="ru-RU" b="1" dirty="0"/>
            </a:b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5304" y="2773747"/>
            <a:ext cx="2871510" cy="24303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угольник 5"/>
          <p:cNvSpPr/>
          <p:nvPr/>
        </p:nvSpPr>
        <p:spPr>
          <a:xfrm>
            <a:off x="4173398" y="3979202"/>
            <a:ext cx="3735360" cy="2181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8488696" y="2773747"/>
            <a:ext cx="2983833" cy="21817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угольник 7"/>
          <p:cNvSpPr/>
          <p:nvPr/>
        </p:nvSpPr>
        <p:spPr>
          <a:xfrm>
            <a:off x="593641" y="3315739"/>
            <a:ext cx="23100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2025-й став роком проривів у якості ШІ-моделей: </a:t>
            </a:r>
            <a:r>
              <a:rPr lang="en-US" dirty="0" smtClean="0"/>
              <a:t>Gemini 3.0 Pro, Claude Opus 4.5, GPT-5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93641" y="2860077"/>
            <a:ext cx="17764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dirty="0" smtClean="0"/>
              <a:t>Прориви 2025</a:t>
            </a:r>
            <a:endParaRPr lang="uk-UA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649118" y="2860077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dirty="0" smtClean="0"/>
              <a:t>Зменшення помилок</a:t>
            </a:r>
            <a:endParaRPr lang="uk-UA" b="1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8617036" y="3250272"/>
            <a:ext cx="28554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OpenAI</a:t>
            </a:r>
            <a:r>
              <a:rPr lang="ru-RU" dirty="0" smtClean="0"/>
              <a:t> </a:t>
            </a:r>
            <a:r>
              <a:rPr lang="ru-RU" dirty="0" err="1" smtClean="0"/>
              <a:t>звітує</a:t>
            </a:r>
            <a:r>
              <a:rPr lang="ru-RU" dirty="0" smtClean="0"/>
              <a:t>: GPT-5 на 45% </a:t>
            </a:r>
            <a:r>
              <a:rPr lang="ru-RU" dirty="0" err="1" smtClean="0"/>
              <a:t>рідше</a:t>
            </a:r>
            <a:r>
              <a:rPr lang="ru-RU" dirty="0" smtClean="0"/>
              <a:t> </a:t>
            </a:r>
            <a:r>
              <a:rPr lang="ru-RU" dirty="0" err="1" smtClean="0"/>
              <a:t>робить</a:t>
            </a:r>
            <a:r>
              <a:rPr lang="ru-RU" dirty="0" smtClean="0"/>
              <a:t> </a:t>
            </a:r>
            <a:r>
              <a:rPr lang="ru-RU" dirty="0" err="1" smtClean="0"/>
              <a:t>помилки</a:t>
            </a:r>
            <a:r>
              <a:rPr lang="ru-RU" dirty="0" smtClean="0"/>
              <a:t> у </a:t>
            </a:r>
            <a:r>
              <a:rPr lang="ru-RU" dirty="0" err="1" smtClean="0"/>
              <a:t>програмному</a:t>
            </a:r>
            <a:r>
              <a:rPr lang="ru-RU" dirty="0" smtClean="0"/>
              <a:t> </a:t>
            </a:r>
            <a:r>
              <a:rPr lang="ru-RU" dirty="0" err="1" smtClean="0"/>
              <a:t>коді</a:t>
            </a:r>
            <a:r>
              <a:rPr lang="ru-RU" dirty="0" smtClean="0"/>
              <a:t>, </a:t>
            </a:r>
            <a:r>
              <a:rPr lang="ru-RU" dirty="0" err="1" smtClean="0"/>
              <a:t>ніж</a:t>
            </a:r>
            <a:r>
              <a:rPr lang="ru-RU" dirty="0" smtClean="0"/>
              <a:t> </a:t>
            </a:r>
            <a:r>
              <a:rPr lang="ru-RU" dirty="0" err="1" smtClean="0"/>
              <a:t>попередники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4323346" y="4588796"/>
            <a:ext cx="38420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000" dirty="0" smtClean="0"/>
              <a:t>Українські </a:t>
            </a:r>
            <a:r>
              <a:rPr lang="en-US" sz="2000" dirty="0" smtClean="0"/>
              <a:t>(</a:t>
            </a:r>
            <a:r>
              <a:rPr lang="en-US" sz="2000" dirty="0" err="1" smtClean="0"/>
              <a:t>Uklon</a:t>
            </a:r>
            <a:r>
              <a:rPr lang="en-US" sz="2000" dirty="0" smtClean="0"/>
              <a:t>, Liven) </a:t>
            </a:r>
            <a:r>
              <a:rPr lang="uk-UA" sz="2000" dirty="0" smtClean="0"/>
              <a:t>підтверджують: ШІ тепер генерує код, фото, відео без типових помилок.</a:t>
            </a:r>
            <a:endParaRPr lang="uk-UA" sz="20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323346" y="4099333"/>
            <a:ext cx="2509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dirty="0"/>
              <a:t>Підтвердження </a:t>
            </a:r>
            <a:r>
              <a:rPr lang="en-US" b="1" dirty="0"/>
              <a:t>CTO</a:t>
            </a:r>
          </a:p>
        </p:txBody>
      </p:sp>
    </p:spTree>
    <p:extLst>
      <p:ext uri="{BB962C8B-B14F-4D97-AF65-F5344CB8AC3E}">
        <p14:creationId xmlns:p14="http://schemas.microsoft.com/office/powerpoint/2010/main" val="41359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45431" y="4756482"/>
            <a:ext cx="7283115" cy="184902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угольник 5"/>
          <p:cNvSpPr/>
          <p:nvPr/>
        </p:nvSpPr>
        <p:spPr>
          <a:xfrm>
            <a:off x="545432" y="3641555"/>
            <a:ext cx="7283115" cy="11149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угольник 4"/>
          <p:cNvSpPr/>
          <p:nvPr/>
        </p:nvSpPr>
        <p:spPr>
          <a:xfrm>
            <a:off x="545432" y="2358187"/>
            <a:ext cx="7283115" cy="12833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9529088" cy="706964"/>
          </a:xfrm>
        </p:spPr>
        <p:txBody>
          <a:bodyPr/>
          <a:lstStyle/>
          <a:p>
            <a:r>
              <a:rPr lang="uk-UA" b="1" dirty="0"/>
              <a:t>Спеціалізація ШІ: </a:t>
            </a:r>
            <a:r>
              <a:rPr lang="uk-UA" b="1" dirty="0" smtClean="0"/>
              <a:t>точність задач нашого часу</a:t>
            </a:r>
            <a:r>
              <a:rPr lang="uk-UA" b="1" dirty="0"/>
              <a:t/>
            </a:r>
            <a:br>
              <a:rPr lang="uk-UA" b="1" dirty="0"/>
            </a:br>
            <a:endParaRPr lang="uk-UA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 rot="10800000" flipV="1">
            <a:off x="545430" y="2470482"/>
            <a:ext cx="7186968" cy="424731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Моделі o3 та o3-mini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Приклад вузькоспеціалізованих систем від </a:t>
            </a:r>
            <a:r>
              <a:rPr kumimoji="0" lang="uk-UA" altLang="uk-UA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для кодування та наукових задач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 </a:t>
            </a:r>
            <a:r>
              <a:rPr kumimoji="0" lang="uk-UA" altLang="uk-UA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Scout</a:t>
            </a: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uk-UA" altLang="uk-UA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Maverick</a:t>
            </a: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Від </a:t>
            </a:r>
            <a:r>
              <a:rPr kumimoji="0" lang="uk-UA" altLang="uk-UA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</a:t>
            </a: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працює з мультимодальними даними: текст, зображення, відео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Інвестиції в ШІ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92% компаній планують інвестувати у спеціалізовані ШІ-моделі для бізнесу до 2028 року (</a:t>
            </a:r>
            <a:r>
              <a:rPr kumimoji="0" lang="uk-UA" altLang="uk-UA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McKinsey</a:t>
            </a:r>
            <a:r>
              <a:rPr kumimoji="0" lang="uk-UA" altLang="uk-UA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Генеративний ШІ (GenAI): можливості та застосуванн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008" y="2470482"/>
            <a:ext cx="4074696" cy="402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306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615612" y="2294021"/>
            <a:ext cx="2502567" cy="438550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Прямоугольник 21"/>
          <p:cNvSpPr/>
          <p:nvPr/>
        </p:nvSpPr>
        <p:spPr>
          <a:xfrm>
            <a:off x="4511831" y="2518611"/>
            <a:ext cx="2598841" cy="419169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Прямоугольник 22"/>
          <p:cNvSpPr/>
          <p:nvPr/>
        </p:nvSpPr>
        <p:spPr>
          <a:xfrm>
            <a:off x="8297090" y="2479826"/>
            <a:ext cx="2826166" cy="414583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9416793" cy="706964"/>
          </a:xfrm>
        </p:spPr>
        <p:txBody>
          <a:bodyPr/>
          <a:lstStyle/>
          <a:p>
            <a:r>
              <a:rPr lang="ru-RU" b="1" dirty="0" err="1"/>
              <a:t>Практичні</a:t>
            </a:r>
            <a:r>
              <a:rPr lang="ru-RU" b="1" dirty="0"/>
              <a:t> </a:t>
            </a:r>
            <a:r>
              <a:rPr lang="ru-RU" b="1" dirty="0" err="1" smtClean="0"/>
              <a:t>результати</a:t>
            </a:r>
            <a:r>
              <a:rPr lang="ru-RU" b="1" dirty="0" smtClean="0"/>
              <a:t> </a:t>
            </a:r>
            <a:r>
              <a:rPr lang="ru-RU" b="1" dirty="0" err="1" smtClean="0"/>
              <a:t>новацій</a:t>
            </a:r>
            <a:r>
              <a:rPr lang="ru-RU" b="1" dirty="0" smtClean="0"/>
              <a:t> ШІ </a:t>
            </a:r>
            <a:r>
              <a:rPr lang="ru-RU" b="1" dirty="0"/>
              <a:t>у </a:t>
            </a:r>
            <a:r>
              <a:rPr lang="ru-RU" b="1" dirty="0" err="1"/>
              <a:t>розробці</a:t>
            </a:r>
            <a:r>
              <a:rPr lang="ru-RU" b="1" dirty="0"/>
              <a:t> </a:t>
            </a:r>
            <a:r>
              <a:rPr lang="ru-RU" b="1" dirty="0" err="1"/>
              <a:t>сайтів</a:t>
            </a:r>
            <a:r>
              <a:rPr lang="ru-RU" b="1" dirty="0"/>
              <a:t>, </a:t>
            </a:r>
            <a:r>
              <a:rPr lang="ru-RU" b="1" dirty="0" err="1"/>
              <a:t>відео</a:t>
            </a:r>
            <a:r>
              <a:rPr lang="ru-RU" b="1" dirty="0"/>
              <a:t>, фото та </a:t>
            </a:r>
            <a:r>
              <a:rPr lang="ru-RU" b="1" dirty="0" smtClean="0"/>
              <a:t>коду 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21623" y="4432755"/>
            <a:ext cx="24965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 smtClean="0"/>
              <a:t>Автоматизація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розробки</a:t>
            </a:r>
            <a:r>
              <a:rPr lang="ru-RU" sz="2000" b="1" dirty="0" smtClean="0"/>
              <a:t> </a:t>
            </a:r>
            <a:r>
              <a:rPr lang="ru-RU" sz="2000" b="1" dirty="0" err="1" smtClean="0"/>
              <a:t>сайтів</a:t>
            </a:r>
            <a:endParaRPr lang="ru-RU" sz="2000" b="1" dirty="0" smtClean="0"/>
          </a:p>
          <a:p>
            <a:r>
              <a:rPr lang="ru-RU" sz="2000" dirty="0" err="1" smtClean="0"/>
              <a:t>Автоматизація</a:t>
            </a:r>
            <a:r>
              <a:rPr lang="ru-RU" sz="2000" dirty="0" smtClean="0"/>
              <a:t> </a:t>
            </a:r>
            <a:r>
              <a:rPr lang="ru-RU" sz="2000" dirty="0" err="1" smtClean="0"/>
              <a:t>рутинних</a:t>
            </a:r>
            <a:r>
              <a:rPr lang="ru-RU" sz="2000" dirty="0" smtClean="0"/>
              <a:t> </a:t>
            </a:r>
            <a:r>
              <a:rPr lang="ru-RU" sz="2000" dirty="0" err="1" smtClean="0"/>
              <a:t>завдань</a:t>
            </a:r>
            <a:r>
              <a:rPr lang="ru-RU" sz="2000" dirty="0" smtClean="0"/>
              <a:t> </a:t>
            </a:r>
            <a:r>
              <a:rPr lang="ru-RU" sz="2000" dirty="0" err="1" smtClean="0"/>
              <a:t>скорочує</a:t>
            </a:r>
            <a:r>
              <a:rPr lang="ru-RU" sz="2000" dirty="0" smtClean="0"/>
              <a:t> час </a:t>
            </a:r>
            <a:r>
              <a:rPr lang="ru-RU" sz="2000" dirty="0" err="1" smtClean="0"/>
              <a:t>розробки</a:t>
            </a:r>
            <a:r>
              <a:rPr lang="ru-RU" sz="2000" dirty="0" smtClean="0"/>
              <a:t> </a:t>
            </a:r>
            <a:r>
              <a:rPr lang="ru-RU" sz="2000" dirty="0" err="1" smtClean="0"/>
              <a:t>сайтів</a:t>
            </a:r>
            <a:r>
              <a:rPr lang="ru-RU" sz="2000" dirty="0" smtClean="0"/>
              <a:t> з </a:t>
            </a:r>
            <a:r>
              <a:rPr lang="ru-RU" sz="2000" dirty="0" err="1" smtClean="0"/>
              <a:t>тижнів</a:t>
            </a:r>
            <a:r>
              <a:rPr lang="ru-RU" sz="2000" dirty="0" smtClean="0"/>
              <a:t> до годин.</a:t>
            </a:r>
            <a:endParaRPr lang="ru-RU" sz="20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588023" y="4401978"/>
            <a:ext cx="26316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Створення</a:t>
            </a:r>
            <a:r>
              <a:rPr lang="ru-RU" b="1" dirty="0" smtClean="0"/>
              <a:t> </a:t>
            </a:r>
            <a:r>
              <a:rPr lang="ru-RU" b="1" dirty="0" err="1" smtClean="0"/>
              <a:t>медіаконтенту</a:t>
            </a:r>
            <a:endParaRPr lang="ru-RU" b="1" dirty="0" smtClean="0"/>
          </a:p>
          <a:p>
            <a:r>
              <a:rPr lang="ru-RU" dirty="0" smtClean="0"/>
              <a:t>AI-</a:t>
            </a:r>
            <a:r>
              <a:rPr lang="ru-RU" dirty="0" err="1" smtClean="0"/>
              <a:t>асистенти</a:t>
            </a:r>
            <a:r>
              <a:rPr lang="ru-RU" dirty="0" smtClean="0"/>
              <a:t> </a:t>
            </a:r>
            <a:r>
              <a:rPr lang="ru-RU" dirty="0" err="1" smtClean="0"/>
              <a:t>створюють</a:t>
            </a:r>
            <a:r>
              <a:rPr lang="ru-RU" dirty="0" smtClean="0"/>
              <a:t> </a:t>
            </a:r>
            <a:r>
              <a:rPr lang="ru-RU" dirty="0" err="1" smtClean="0"/>
              <a:t>відео</a:t>
            </a:r>
            <a:r>
              <a:rPr lang="ru-RU" dirty="0" smtClean="0"/>
              <a:t> та фото з </a:t>
            </a:r>
            <a:r>
              <a:rPr lang="ru-RU" dirty="0" err="1" smtClean="0"/>
              <a:t>точністю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раніше</a:t>
            </a:r>
            <a:r>
              <a:rPr lang="ru-RU" dirty="0" smtClean="0"/>
              <a:t> </a:t>
            </a:r>
            <a:r>
              <a:rPr lang="ru-RU" dirty="0" err="1" smtClean="0"/>
              <a:t>була</a:t>
            </a:r>
            <a:r>
              <a:rPr lang="ru-RU" dirty="0" smtClean="0"/>
              <a:t> доступна </a:t>
            </a:r>
            <a:r>
              <a:rPr lang="ru-RU" dirty="0" err="1" smtClean="0"/>
              <a:t>лише</a:t>
            </a:r>
            <a:r>
              <a:rPr lang="ru-RU" dirty="0" smtClean="0"/>
              <a:t> </a:t>
            </a:r>
            <a:r>
              <a:rPr lang="ru-RU" dirty="0" err="1" smtClean="0"/>
              <a:t>професіоналам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406064" y="4540476"/>
            <a:ext cx="26082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Low-code </a:t>
            </a:r>
            <a:r>
              <a:rPr lang="uk-UA" b="1" dirty="0" smtClean="0"/>
              <a:t>платформи</a:t>
            </a:r>
          </a:p>
          <a:p>
            <a:r>
              <a:rPr lang="uk-UA" dirty="0" smtClean="0"/>
              <a:t>Впровадження </a:t>
            </a:r>
            <a:r>
              <a:rPr lang="en-US" dirty="0" smtClean="0"/>
              <a:t>low-code </a:t>
            </a:r>
            <a:r>
              <a:rPr lang="uk-UA" dirty="0" smtClean="0"/>
              <a:t>платформ (</a:t>
            </a:r>
            <a:r>
              <a:rPr lang="en-US" dirty="0" smtClean="0"/>
              <a:t>Scriptum) </a:t>
            </a:r>
            <a:r>
              <a:rPr lang="uk-UA" dirty="0" smtClean="0"/>
              <a:t>дозволяє контролювати якість і безпеку даних.</a:t>
            </a:r>
            <a:endParaRPr lang="uk-UA" dirty="0"/>
          </a:p>
        </p:txBody>
      </p:sp>
      <p:pic>
        <p:nvPicPr>
          <p:cNvPr id="2050" name="Picture 2" descr="https://cdn.dribbble.com/users/598300/screenshots/16287717/media/4c1ae684f34e6af94ea25f89893dd369.png?resize=1200x900&amp;vertical=cent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2" y="2294021"/>
            <a:ext cx="2502567" cy="189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cdn.presentations.ai/images/imag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31" y="2518611"/>
            <a:ext cx="2598842" cy="188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22 полезных примера кода на Python / Хаб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090" y="2479826"/>
            <a:ext cx="2826166" cy="206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>
            <a:off x="208548" y="4023428"/>
            <a:ext cx="2197767" cy="2031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Прямоугольник 24"/>
          <p:cNvSpPr/>
          <p:nvPr/>
        </p:nvSpPr>
        <p:spPr>
          <a:xfrm>
            <a:off x="9063789" y="2333604"/>
            <a:ext cx="2241884" cy="20559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Прямоугольник 25"/>
          <p:cNvSpPr/>
          <p:nvPr/>
        </p:nvSpPr>
        <p:spPr>
          <a:xfrm>
            <a:off x="6047871" y="4023427"/>
            <a:ext cx="2743201" cy="22650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Прямоугольник 23"/>
          <p:cNvSpPr/>
          <p:nvPr/>
        </p:nvSpPr>
        <p:spPr>
          <a:xfrm>
            <a:off x="2823410" y="2358240"/>
            <a:ext cx="2422357" cy="18928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контроль </a:t>
            </a:r>
            <a:r>
              <a:rPr lang="ru-RU" b="1" dirty="0" err="1"/>
              <a:t>якості</a:t>
            </a:r>
            <a:r>
              <a:rPr lang="ru-RU" b="1" dirty="0"/>
              <a:t> та </a:t>
            </a:r>
            <a:r>
              <a:rPr lang="ru-RU" b="1" dirty="0" err="1"/>
              <a:t>безпека</a:t>
            </a:r>
            <a:r>
              <a:rPr lang="ru-RU" b="1" dirty="0"/>
              <a:t> </a:t>
            </a:r>
            <a:r>
              <a:rPr lang="ru-RU" b="1" dirty="0" smtClean="0"/>
              <a:t>ШІ у </a:t>
            </a:r>
            <a:r>
              <a:rPr lang="ru-RU" b="1" dirty="0" err="1" smtClean="0"/>
              <a:t>майбутньому</a:t>
            </a:r>
            <a:r>
              <a:rPr lang="ru-RU" b="1" dirty="0"/>
              <a:t/>
            </a:r>
            <a:br>
              <a:rPr lang="ru-RU" b="1" dirty="0"/>
            </a:b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08548" y="4023428"/>
            <a:ext cx="21977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Зростання</a:t>
            </a:r>
            <a:r>
              <a:rPr lang="ru-RU" b="1" dirty="0" smtClean="0"/>
              <a:t> </a:t>
            </a:r>
            <a:r>
              <a:rPr lang="ru-RU" b="1" dirty="0" err="1" smtClean="0"/>
              <a:t>Shadow</a:t>
            </a:r>
            <a:r>
              <a:rPr lang="ru-RU" b="1" dirty="0" smtClean="0"/>
              <a:t> AI</a:t>
            </a:r>
          </a:p>
          <a:p>
            <a:r>
              <a:rPr lang="ru-RU" dirty="0" err="1" smtClean="0"/>
              <a:t>Неузгоджене</a:t>
            </a:r>
            <a:r>
              <a:rPr lang="ru-RU" dirty="0" smtClean="0"/>
              <a:t> </a:t>
            </a:r>
            <a:r>
              <a:rPr lang="ru-RU" dirty="0" err="1" smtClean="0"/>
              <a:t>впровадження</a:t>
            </a:r>
            <a:r>
              <a:rPr lang="ru-RU" dirty="0" smtClean="0"/>
              <a:t> ШІ в </a:t>
            </a:r>
            <a:r>
              <a:rPr lang="ru-RU" dirty="0" err="1" smtClean="0"/>
              <a:t>компаніях</a:t>
            </a:r>
            <a:r>
              <a:rPr lang="ru-RU" dirty="0" smtClean="0"/>
              <a:t> без </a:t>
            </a:r>
            <a:r>
              <a:rPr lang="ru-RU" dirty="0" err="1" smtClean="0"/>
              <a:t>централізованого</a:t>
            </a:r>
            <a:r>
              <a:rPr lang="ru-RU" dirty="0" smtClean="0"/>
              <a:t> контролю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047747" y="2358240"/>
            <a:ext cx="222985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Політики</a:t>
            </a:r>
            <a:r>
              <a:rPr lang="ru-RU" b="1" dirty="0" smtClean="0"/>
              <a:t> </a:t>
            </a:r>
            <a:r>
              <a:rPr lang="ru-RU" b="1" dirty="0" err="1" smtClean="0"/>
              <a:t>безпеки</a:t>
            </a:r>
            <a:endParaRPr lang="ru-RU" b="1" dirty="0" smtClean="0"/>
          </a:p>
          <a:p>
            <a:r>
              <a:rPr lang="ru-RU" dirty="0" err="1" smtClean="0"/>
              <a:t>Впровадження</a:t>
            </a:r>
            <a:r>
              <a:rPr lang="ru-RU" dirty="0" smtClean="0"/>
              <a:t> </a:t>
            </a:r>
            <a:r>
              <a:rPr lang="ru-RU" dirty="0" err="1" smtClean="0"/>
              <a:t>політик</a:t>
            </a:r>
            <a:r>
              <a:rPr lang="ru-RU" dirty="0" smtClean="0"/>
              <a:t> </a:t>
            </a:r>
            <a:r>
              <a:rPr lang="ru-RU" dirty="0" err="1" smtClean="0"/>
              <a:t>безпеки</a:t>
            </a:r>
            <a:r>
              <a:rPr lang="ru-RU" dirty="0" smtClean="0"/>
              <a:t>, </a:t>
            </a:r>
            <a:r>
              <a:rPr lang="ru-RU" dirty="0" err="1" smtClean="0"/>
              <a:t>моніторинг</a:t>
            </a:r>
            <a:r>
              <a:rPr lang="ru-RU" dirty="0" smtClean="0"/>
              <a:t> </a:t>
            </a:r>
            <a:r>
              <a:rPr lang="ru-RU" dirty="0" err="1" smtClean="0"/>
              <a:t>версій</a:t>
            </a:r>
            <a:r>
              <a:rPr lang="ru-RU" dirty="0" smtClean="0"/>
              <a:t> моделей та </a:t>
            </a:r>
            <a:r>
              <a:rPr lang="ru-RU" dirty="0" err="1" smtClean="0"/>
              <a:t>тестування</a:t>
            </a:r>
            <a:r>
              <a:rPr lang="ru-RU" dirty="0" smtClean="0"/>
              <a:t> на </a:t>
            </a:r>
            <a:r>
              <a:rPr lang="ru-RU" dirty="0" err="1" smtClean="0"/>
              <a:t>упередження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031831" y="4023428"/>
            <a:ext cx="27592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/>
              <a:t>Системне</a:t>
            </a:r>
            <a:r>
              <a:rPr lang="ru-RU" b="1" dirty="0" smtClean="0"/>
              <a:t> </a:t>
            </a:r>
            <a:r>
              <a:rPr lang="ru-RU" b="1" dirty="0" err="1" smtClean="0"/>
              <a:t>тестування</a:t>
            </a:r>
            <a:endParaRPr lang="ru-RU" b="1" dirty="0" smtClean="0"/>
          </a:p>
          <a:p>
            <a:r>
              <a:rPr lang="ru-RU" dirty="0" err="1" smtClean="0"/>
              <a:t>Системне</a:t>
            </a:r>
            <a:r>
              <a:rPr lang="ru-RU" dirty="0" smtClean="0"/>
              <a:t> </a:t>
            </a:r>
            <a:r>
              <a:rPr lang="ru-RU" dirty="0" err="1" smtClean="0"/>
              <a:t>тестування</a:t>
            </a:r>
            <a:r>
              <a:rPr lang="ru-RU" dirty="0" smtClean="0"/>
              <a:t> AI-моделей </a:t>
            </a:r>
            <a:r>
              <a:rPr lang="ru-RU" dirty="0" err="1" smtClean="0"/>
              <a:t>імітує</a:t>
            </a:r>
            <a:r>
              <a:rPr lang="ru-RU" dirty="0" smtClean="0"/>
              <a:t> </a:t>
            </a:r>
            <a:r>
              <a:rPr lang="ru-RU" dirty="0" err="1" smtClean="0"/>
              <a:t>хакерські</a:t>
            </a:r>
            <a:r>
              <a:rPr lang="ru-RU" dirty="0" smtClean="0"/>
              <a:t> атаки для </a:t>
            </a:r>
            <a:r>
              <a:rPr lang="ru-RU" dirty="0" err="1" smtClean="0"/>
              <a:t>підвищення</a:t>
            </a:r>
            <a:r>
              <a:rPr lang="ru-RU" dirty="0" smtClean="0"/>
              <a:t> </a:t>
            </a:r>
            <a:r>
              <a:rPr lang="ru-RU" dirty="0" err="1" smtClean="0"/>
              <a:t>надійності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23411" y="2496739"/>
            <a:ext cx="242235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i="0" cap="all" dirty="0" smtClean="0">
                <a:solidFill>
                  <a:srgbClr val="000000"/>
                </a:solidFill>
                <a:effectLst/>
                <a:latin typeface="Hubot Sans"/>
              </a:rPr>
              <a:t>Роль інженерів</a:t>
            </a:r>
          </a:p>
          <a:p>
            <a:r>
              <a:rPr lang="uk-UA" b="0" i="0" dirty="0" smtClean="0">
                <a:solidFill>
                  <a:srgbClr val="000000"/>
                </a:solidFill>
                <a:effectLst/>
                <a:latin typeface="Roboto Condensed"/>
              </a:rPr>
              <a:t>Важливість інженерів, здатних створювати 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Roboto Condensed"/>
              </a:rPr>
              <a:t>agent-based </a:t>
            </a:r>
            <a:r>
              <a:rPr lang="uk-UA" b="0" i="0" dirty="0" smtClean="0">
                <a:solidFill>
                  <a:srgbClr val="000000"/>
                </a:solidFill>
                <a:effectLst/>
                <a:latin typeface="Roboto Condensed"/>
              </a:rPr>
              <a:t>системи та автопілоти процесів.</a:t>
            </a:r>
            <a:endParaRPr lang="uk-UA" b="0" i="0" dirty="0">
              <a:solidFill>
                <a:srgbClr val="000000"/>
              </a:solidFill>
              <a:effectLst/>
              <a:latin typeface="Roboto Condensed"/>
            </a:endParaRPr>
          </a:p>
        </p:txBody>
      </p:sp>
      <p:cxnSp>
        <p:nvCxnSpPr>
          <p:cNvPr id="9" name="Прямая соединительная линия 8"/>
          <p:cNvCxnSpPr>
            <a:stCxn id="4" idx="3"/>
            <a:endCxn id="6" idx="1"/>
          </p:cNvCxnSpPr>
          <p:nvPr/>
        </p:nvCxnSpPr>
        <p:spPr>
          <a:xfrm>
            <a:off x="2406316" y="5039091"/>
            <a:ext cx="3625515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7" idx="3"/>
            <a:endCxn id="5" idx="1"/>
          </p:cNvCxnSpPr>
          <p:nvPr/>
        </p:nvCxnSpPr>
        <p:spPr>
          <a:xfrm>
            <a:off x="5245768" y="3373902"/>
            <a:ext cx="3801979" cy="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>
            <a:stCxn id="7" idx="2"/>
          </p:cNvCxnSpPr>
          <p:nvPr/>
        </p:nvCxnSpPr>
        <p:spPr>
          <a:xfrm flipH="1">
            <a:off x="4034589" y="4251065"/>
            <a:ext cx="1" cy="788025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6" idx="0"/>
          </p:cNvCxnSpPr>
          <p:nvPr/>
        </p:nvCxnSpPr>
        <p:spPr>
          <a:xfrm flipV="1">
            <a:off x="7411452" y="3373902"/>
            <a:ext cx="0" cy="649526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3942347" y="4946848"/>
            <a:ext cx="184484" cy="18448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Овал 20"/>
          <p:cNvSpPr/>
          <p:nvPr/>
        </p:nvSpPr>
        <p:spPr>
          <a:xfrm>
            <a:off x="7319210" y="3281659"/>
            <a:ext cx="184484" cy="18448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818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Сглаживание DLSS – будущее игровой индустрии? / Хабр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22" y="2944859"/>
            <a:ext cx="5582652" cy="374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4604047" y="2368057"/>
            <a:ext cx="7299196" cy="12003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Прямоугольник 8"/>
          <p:cNvSpPr/>
          <p:nvPr/>
        </p:nvSpPr>
        <p:spPr>
          <a:xfrm>
            <a:off x="6336632" y="4970244"/>
            <a:ext cx="5566611" cy="12003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угольник 7"/>
          <p:cNvSpPr/>
          <p:nvPr/>
        </p:nvSpPr>
        <p:spPr>
          <a:xfrm>
            <a:off x="5598696" y="3669151"/>
            <a:ext cx="6304547" cy="120032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10170772" cy="706964"/>
          </a:xfrm>
        </p:spPr>
        <p:txBody>
          <a:bodyPr/>
          <a:lstStyle/>
          <a:p>
            <a:r>
              <a:rPr lang="ru-RU" b="1" dirty="0" smtClean="0"/>
              <a:t>2026 </a:t>
            </a:r>
            <a:r>
              <a:rPr lang="ru-RU" b="1" dirty="0"/>
              <a:t>— </a:t>
            </a:r>
            <a:r>
              <a:rPr lang="ru-RU" b="1" dirty="0" err="1"/>
              <a:t>рік</a:t>
            </a:r>
            <a:r>
              <a:rPr lang="ru-RU" b="1" dirty="0"/>
              <a:t>, коли </a:t>
            </a:r>
            <a:r>
              <a:rPr lang="ru-RU" b="1" dirty="0" smtClean="0"/>
              <a:t>ШІ </a:t>
            </a:r>
            <a:r>
              <a:rPr lang="ru-RU" b="1" dirty="0" err="1" smtClean="0"/>
              <a:t>допомагає</a:t>
            </a:r>
            <a:r>
              <a:rPr lang="ru-RU" b="1" dirty="0" smtClean="0"/>
              <a:t> геймерам</a:t>
            </a:r>
            <a:r>
              <a:rPr lang="ru-RU" b="1" dirty="0"/>
              <a:t/>
            </a:r>
            <a:br>
              <a:rPr lang="ru-RU" b="1" dirty="0"/>
            </a:b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604046" y="2368058"/>
            <a:ext cx="71066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dirty="0" smtClean="0"/>
              <a:t>Визначення </a:t>
            </a:r>
            <a:r>
              <a:rPr lang="en-US" b="1" dirty="0" smtClean="0"/>
              <a:t>DLSS</a:t>
            </a:r>
          </a:p>
          <a:p>
            <a:r>
              <a:rPr lang="en-US" dirty="0" smtClean="0"/>
              <a:t>DLSS (Deep Learning Super Sampling) — </a:t>
            </a:r>
            <a:r>
              <a:rPr lang="uk-UA" dirty="0" smtClean="0"/>
              <a:t>технологія </a:t>
            </a:r>
            <a:r>
              <a:rPr lang="en-US" dirty="0" smtClean="0"/>
              <a:t>NVIDIA, </a:t>
            </a:r>
            <a:r>
              <a:rPr lang="uk-UA" dirty="0" smtClean="0"/>
              <a:t>що використовує ШІ для масштабування графіки, значно покращуючи візуальне сприйняття.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43075" y="366915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b="1" dirty="0" smtClean="0"/>
              <a:t>Чіткість та плавність</a:t>
            </a:r>
          </a:p>
          <a:p>
            <a:r>
              <a:rPr lang="uk-UA" dirty="0" smtClean="0"/>
              <a:t>Забезпечує надзвичайну чіткість і плавність зображення при одночасному зниженні навантаження на </a:t>
            </a:r>
            <a:r>
              <a:rPr lang="en-US" dirty="0" smtClean="0"/>
              <a:t>GPU, </a:t>
            </a:r>
            <a:r>
              <a:rPr lang="uk-UA" dirty="0" smtClean="0"/>
              <a:t>оптимізуючи продуктивність.</a:t>
            </a:r>
            <a:endParaRPr lang="uk-UA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6336632" y="497024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b="1" dirty="0" smtClean="0"/>
              <a:t>Приклад застосування</a:t>
            </a:r>
          </a:p>
          <a:p>
            <a:r>
              <a:rPr lang="uk-UA" dirty="0" smtClean="0"/>
              <a:t>У іграх та візуальних </a:t>
            </a:r>
            <a:r>
              <a:rPr lang="uk-UA" dirty="0" err="1" smtClean="0"/>
              <a:t>проєктах</a:t>
            </a:r>
            <a:r>
              <a:rPr lang="uk-UA" dirty="0" smtClean="0"/>
              <a:t> </a:t>
            </a:r>
            <a:r>
              <a:rPr lang="en-US" dirty="0" smtClean="0"/>
              <a:t>DLSS </a:t>
            </a:r>
            <a:r>
              <a:rPr lang="uk-UA" dirty="0" smtClean="0"/>
              <a:t>дозволяє отримати якість 4</a:t>
            </a:r>
            <a:r>
              <a:rPr lang="en-US" dirty="0" smtClean="0"/>
              <a:t>K </a:t>
            </a:r>
            <a:r>
              <a:rPr lang="uk-UA" dirty="0" smtClean="0"/>
              <a:t>при продуктивності, характерній для 1080</a:t>
            </a:r>
            <a:r>
              <a:rPr lang="en-US" dirty="0" smtClean="0"/>
              <a:t>p, </a:t>
            </a:r>
            <a:r>
              <a:rPr lang="uk-UA" dirty="0" smtClean="0"/>
              <a:t>без втрати деталей.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23520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6463" y="2294020"/>
            <a:ext cx="7876674" cy="433136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DLSS: </a:t>
            </a:r>
            <a:r>
              <a:rPr lang="uk-UA" b="1" dirty="0"/>
              <a:t>Інновації </a:t>
            </a:r>
            <a:r>
              <a:rPr lang="uk-UA" b="1" dirty="0" smtClean="0"/>
              <a:t>4.5 та неперервний прогрес </a:t>
            </a:r>
            <a:r>
              <a:rPr lang="uk-UA" b="1" dirty="0"/>
              <a:t/>
            </a:r>
            <a:br>
              <a:rPr lang="uk-UA" b="1" dirty="0"/>
            </a:b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463" y="2294020"/>
            <a:ext cx="7876674" cy="4331368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DLSS 4.5, </a:t>
            </a:r>
            <a:r>
              <a:rPr lang="uk-UA" dirty="0"/>
              <a:t>як і попередні версії, демонструє безперервний розвиток технологій </a:t>
            </a:r>
            <a:r>
              <a:rPr lang="en-US" dirty="0"/>
              <a:t>NVIDIA, </a:t>
            </a:r>
            <a:r>
              <a:rPr lang="uk-UA" dirty="0"/>
              <a:t>що використовують ШІ для революційної обробки графіки. Це не просто масштабування зображення, а інтелектуальне відновлення деталей та покращення якості кадру з використанням глибоких нейронних </a:t>
            </a:r>
            <a:r>
              <a:rPr lang="uk-UA" dirty="0" smtClean="0"/>
              <a:t>мереж.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uk-UA" dirty="0" smtClean="0"/>
              <a:t>Покращена стабільність зображення та менше артефактів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uk-UA" dirty="0" smtClean="0"/>
              <a:t>Підтримка ще більшої кількості ігор та програм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uk-UA" dirty="0" smtClean="0"/>
              <a:t>Здатність працювати з різними </a:t>
            </a:r>
            <a:r>
              <a:rPr lang="uk-UA" dirty="0" err="1" smtClean="0"/>
              <a:t>архітектурами</a:t>
            </a:r>
            <a:r>
              <a:rPr lang="uk-UA" dirty="0" smtClean="0"/>
              <a:t> </a:t>
            </a:r>
            <a:r>
              <a:rPr lang="en-US" dirty="0" smtClean="0"/>
              <a:t>GPU</a:t>
            </a:r>
            <a:endParaRPr lang="uk-UA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uk-UA" dirty="0" smtClean="0"/>
              <a:t>Майбутнє </a:t>
            </a:r>
            <a:r>
              <a:rPr lang="en-US" dirty="0"/>
              <a:t>DLSS </a:t>
            </a:r>
            <a:r>
              <a:rPr lang="uk-UA" dirty="0"/>
              <a:t>та подібних ШІ-технологій обіцяє ще більш вражаючі результати, відкриваючи шлях до </a:t>
            </a:r>
            <a:r>
              <a:rPr lang="uk-UA" dirty="0" err="1"/>
              <a:t>гіперреалістичної</a:t>
            </a:r>
            <a:r>
              <a:rPr lang="uk-UA" dirty="0"/>
              <a:t> графіки та нового досвіду у віртуальній реальності та професійних візуалізаціях. Це ера, де ШІ не просто створює, а оптимізує та покращує візуальний світ, роблячи його доступнішим та якіснішим.</a:t>
            </a:r>
          </a:p>
          <a:p>
            <a:endParaRPr lang="uk-UA" dirty="0"/>
          </a:p>
        </p:txBody>
      </p:sp>
      <p:pic>
        <p:nvPicPr>
          <p:cNvPr id="4114" name="Picture 18" descr="Key art for Nvidia DLSS 4.5, featuring a screenshot from a game in which the protagonist is under attack from a large white wolf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137" y="2294020"/>
            <a:ext cx="4138027" cy="433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810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5122" name="Picture 2" descr="Мем: &quot;Дякую за увагу! Сподіваюсь, Вам сподобалось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4635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</TotalTime>
  <Words>440</Words>
  <Application>Microsoft Office PowerPoint</Application>
  <PresentationFormat>Широкоэкранный</PresentationFormat>
  <Paragraphs>49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Century Gothic</vt:lpstr>
      <vt:lpstr>Courier New</vt:lpstr>
      <vt:lpstr>Hubot Sans</vt:lpstr>
      <vt:lpstr>Roboto Condensed</vt:lpstr>
      <vt:lpstr>Wingdings 3</vt:lpstr>
      <vt:lpstr>Совет директоров</vt:lpstr>
      <vt:lpstr>Досягнення штучного інтелекту на 2026 рік</vt:lpstr>
      <vt:lpstr>Еволюція ШІ у 2025-2026 роках </vt:lpstr>
      <vt:lpstr>Спеціалізація ШІ: точність задач нашого часу </vt:lpstr>
      <vt:lpstr>Практичні результати новацій ШІ у розробці сайтів, відео, фото та коду </vt:lpstr>
      <vt:lpstr>контроль якості та безпека ШІ у майбутньому </vt:lpstr>
      <vt:lpstr>2026 — рік, коли ШІ допомагає геймерам </vt:lpstr>
      <vt:lpstr>DLSS: Інновації 4.5 та неперервний прогрес 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Досягнення штучного інтелекту на 2026 рік</dc:title>
  <dc:creator>Ростислав Чуєнко</dc:creator>
  <cp:lastModifiedBy>Ростислав Чуєнко</cp:lastModifiedBy>
  <cp:revision>5</cp:revision>
  <dcterms:created xsi:type="dcterms:W3CDTF">2026-01-20T14:06:47Z</dcterms:created>
  <dcterms:modified xsi:type="dcterms:W3CDTF">2026-01-20T14:46:42Z</dcterms:modified>
</cp:coreProperties>
</file>